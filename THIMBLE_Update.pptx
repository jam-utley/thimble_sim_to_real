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3" r:id="rId7"/>
    <p:sldId id="264" r:id="rId8"/>
    <p:sldId id="261" r:id="rId9"/>
    <p:sldId id="262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B1B1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6" autoAdjust="0"/>
    <p:restoredTop sz="94629" autoAdjust="0"/>
  </p:normalViewPr>
  <p:slideViewPr>
    <p:cSldViewPr snapToGrid="0">
      <p:cViewPr>
        <p:scale>
          <a:sx n="66" d="100"/>
          <a:sy n="66" d="100"/>
        </p:scale>
        <p:origin x="828" y="459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27153-1366-3318-FC8B-54ED0FC87A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6B4ABE-4ECE-9D65-83DC-7204C742BE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71E70C-C9E9-BC20-D6E2-C754D94213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28C4A-5599-4E87-B825-0BD16D303601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9D78A-F243-05DC-573E-41F0A9958E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F163D8-62F4-69F5-EEF1-AF568F58B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8A912-159A-4C93-AA7F-E5DD28DE3B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4017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30ED01-0035-93C4-ACEE-CAA36A648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724F0E-18A3-CBAF-7810-DC20EC5EAD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451D58-ED40-9336-467B-0D3E5FC2E2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28C4A-5599-4E87-B825-0BD16D303601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72A795-2A96-7E37-43C2-642717A32B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45EA1C-FEA6-027D-B913-F70675D95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8A912-159A-4C93-AA7F-E5DD28DE3B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71722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8D107-A918-05E8-2BF7-8BCEA1D5CF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3CF025-10A1-A3FC-A7BF-C48B856270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CCAE11-190D-9FA1-E748-31D0AE41E1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28C4A-5599-4E87-B825-0BD16D303601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1DDC03-7F5E-2996-69A9-196B83E82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F373C3-9F95-CECB-DB93-3FD0B77C7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8A912-159A-4C93-AA7F-E5DD28DE3B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2995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0B6829-22D2-9445-B326-7048B11233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C6839C-BEDD-3729-42B8-B19F90AF72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DDEEAF-8FA2-ED13-FC01-0CDF3B2A5D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E21A9D-EC36-7DDB-B300-FB625C78D3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28C4A-5599-4E87-B825-0BD16D303601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9DB200-CB35-95AF-6C7F-6EABF06E93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E00A00-A487-4416-C185-1E1BE7CDE7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8A912-159A-4C93-AA7F-E5DD28DE3B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2671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F8F686-2960-75AA-93EB-7F7D867227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35B90C-DE87-8132-ED2B-C249FF2A04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17F778-2891-AD58-E180-AD6706B1D1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D05D30-E5C2-2C8D-ED5C-51A319ECF1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B862911-6162-9922-2453-97A50B5551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9C73BDD-DD45-566B-CFE4-340C2B2D5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28C4A-5599-4E87-B825-0BD16D303601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1A24A6D-4ECA-4938-8345-7D2FDD998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8490CB-C5BF-E8F5-FEC6-8FD0C88A0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8A912-159A-4C93-AA7F-E5DD28DE3B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0888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B6DFDB-6016-137C-1954-C3ACE9CEB8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A59668-97D3-0BFC-297E-F3E79EB84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28C4A-5599-4E87-B825-0BD16D303601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8DB206-429A-5F7A-1D10-27F36A956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5802D0-DAD9-9391-EA0C-7B7A651AD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8A912-159A-4C93-AA7F-E5DD28DE3B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76139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711EC35-03C8-BAF0-A56B-2A663D1922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28C4A-5599-4E87-B825-0BD16D303601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739461-553D-486B-36C8-96472F4CF0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DAE7E0-5F9D-FFAF-C58B-6AA1BF31DC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8A912-159A-4C93-AA7F-E5DD28DE3B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3352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A867E-7DEA-420E-B3BD-0E9045EFAF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BD8D19-41E4-7CB3-59DA-1E7752AC47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B1BF11-AA4D-1A09-59E6-405419D20B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589554-00AF-017C-90C1-D65B5E4121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28C4A-5599-4E87-B825-0BD16D303601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70ACA6-0589-C1D0-4F98-0CDF6CB2DF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7B11C4-0771-B462-F7F6-15A97283D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8A912-159A-4C93-AA7F-E5DD28DE3B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78994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18B33-B3A9-6F8A-268B-537ABC075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B2C8398-58EE-E650-D235-6FDCEDB241B1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AC863F-6A01-43CA-C6C4-6FFDADF499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F26FD3-3279-550C-1C1D-1DED71A24F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28C4A-5599-4E87-B825-0BD16D303601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B2A367-1612-9A62-4173-06EEFC5D5A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4B489F-2668-6A82-708D-031959EEC8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8A912-159A-4C93-AA7F-E5DD28DE3B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71047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D88A8B-0F2C-D7A2-A758-1FF627462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92B316-7075-1819-99ED-66CF92BB84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F594A7-CEF9-C0B3-FE21-EEAFC0B77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28C4A-5599-4E87-B825-0BD16D303601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9E7D89-E540-C542-B097-E70531FAA8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F689C3-1A09-53D7-2107-BA2A424E2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8A912-159A-4C93-AA7F-E5DD28DE3B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5942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942FBBB-8201-32BE-9DC8-5D64074570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3118C9-916D-8B85-D2D1-C6E9D7DEB0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0F0790-2CA0-71F5-F096-93A8AA34BB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28C4A-5599-4E87-B825-0BD16D303601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FCA62B-7E3B-D8FC-0ADD-CCD0EED5AE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0AA358-6B5B-036E-CB21-5FA20A0FA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8A912-159A-4C93-AA7F-E5DD28DE3B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8737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4F247DA-442F-EAB5-ABB9-3101332947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132795-0F67-D6EB-F010-9F7B86F73C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657365-4638-4CE8-2D9B-0531BF953C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A28C4A-5599-4E87-B825-0BD16D303601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3C7A88-2EC3-1BAA-8267-2E8077D5FB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290A94-043D-3007-719F-5D8FF4F3C5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8A912-159A-4C93-AA7F-E5DD28DE3B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006703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CFFDE2-725E-ADF4-90E6-AFBCF3E1E9C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State of THIMBLE, Bipedal Sim-to-Real Transfer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7EBAE9-0726-2A65-1911-2305E354BFC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Team: James Utley</a:t>
            </a:r>
          </a:p>
        </p:txBody>
      </p:sp>
    </p:spTree>
    <p:extLst>
      <p:ext uri="{BB962C8B-B14F-4D97-AF65-F5344CB8AC3E}">
        <p14:creationId xmlns:p14="http://schemas.microsoft.com/office/powerpoint/2010/main" val="40447860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B9538-9C54-9E55-34EF-12A452CB4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6E2D01-2ABE-F23D-ABC0-BDE3320B63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New:</a:t>
            </a:r>
            <a:br>
              <a:rPr lang="en-US" dirty="0"/>
            </a:br>
            <a:r>
              <a:rPr lang="en-US" dirty="0"/>
              <a:t>THIMBLE is a low-cost bipedal robot designed for implementing difficult reinforcement learning challenges, such as bipedal self-balancing and sim-to-real transfer. </a:t>
            </a:r>
          </a:p>
          <a:p>
            <a:pPr marL="0" indent="0">
              <a:buNone/>
            </a:pPr>
            <a:r>
              <a:rPr lang="en-US" sz="2200" i="1" dirty="0">
                <a:solidFill>
                  <a:schemeClr val="bg2">
                    <a:lumMod val="50000"/>
                  </a:schemeClr>
                </a:solidFill>
              </a:rPr>
              <a:t>Original:</a:t>
            </a:r>
            <a:br>
              <a:rPr lang="en-US" sz="2200" i="1" dirty="0">
                <a:solidFill>
                  <a:schemeClr val="bg2">
                    <a:lumMod val="50000"/>
                  </a:schemeClr>
                </a:solidFill>
              </a:rPr>
            </a:br>
            <a:r>
              <a:rPr lang="en-US" sz="2200" i="1" dirty="0">
                <a:solidFill>
                  <a:schemeClr val="bg2">
                    <a:lumMod val="50000"/>
                  </a:schemeClr>
                </a:solidFill>
              </a:rPr>
              <a:t>For robot enthusiasts who seek to streamline sim-to-real development, THIMBLE is a low-cost bipedal robot that democratizes Reinforcement Learning development. Built using Open Duck as a frame, THIMBLE demonstrates that reinforcement learning can be low-cost and still produce good quality results.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10334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667C2-603F-927C-7887-8A657C6B9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Stories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1ECAAB6-3E3E-1D12-07C0-BB878F3448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6006985"/>
              </p:ext>
            </p:extLst>
          </p:nvPr>
        </p:nvGraphicFramePr>
        <p:xfrm>
          <a:off x="838200" y="1383506"/>
          <a:ext cx="10515600" cy="4937760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2546350">
                  <a:extLst>
                    <a:ext uri="{9D8B030D-6E8A-4147-A177-3AD203B41FA5}">
                      <a16:colId xmlns:a16="http://schemas.microsoft.com/office/drawing/2014/main" val="2334913215"/>
                    </a:ext>
                  </a:extLst>
                </a:gridCol>
                <a:gridCol w="7969250">
                  <a:extLst>
                    <a:ext uri="{9D8B030D-6E8A-4147-A177-3AD203B41FA5}">
                      <a16:colId xmlns:a16="http://schemas.microsoft.com/office/drawing/2014/main" val="5526442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Role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Statement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13337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Masters Student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2400" dirty="0"/>
                        <a:t>I want a robot that is cheap to make.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19747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Robotics Researcher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2400" dirty="0"/>
                        <a:t>I want an RL pipeline that is readable, up-to-date, and easily modular/modifiable.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0208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Robotics Hobbyist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2400" dirty="0"/>
                        <a:t>I want a robot that I can show off to my friends.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7665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Robotics Enthusiast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2400" dirty="0"/>
                        <a:t>I want a robot that I can push and it self-balances and can move over multiple types of terrain (hardwood floor, soft carpet, stone, etc.)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12338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Cosplayer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Font typeface="Arial" panose="020B0604020202020204" pitchFamily="34" charset="0"/>
                        <a:buNone/>
                      </a:pPr>
                      <a:r>
                        <a:rPr lang="en-US" sz="2400" dirty="0"/>
                        <a:t>I want a little guy who can follow me around and be cute.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02376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480256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C4A7FC-7E32-13A6-1B6C-1C180E5F7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4F7FE69-0A8B-335D-BCAF-DDBC1D735F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6038267"/>
              </p:ext>
            </p:extLst>
          </p:nvPr>
        </p:nvGraphicFramePr>
        <p:xfrm>
          <a:off x="838200" y="1385888"/>
          <a:ext cx="10515600" cy="5033962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3060700">
                  <a:extLst>
                    <a:ext uri="{9D8B030D-6E8A-4147-A177-3AD203B41FA5}">
                      <a16:colId xmlns:a16="http://schemas.microsoft.com/office/drawing/2014/main" val="12768601"/>
                    </a:ext>
                  </a:extLst>
                </a:gridCol>
                <a:gridCol w="7454900">
                  <a:extLst>
                    <a:ext uri="{9D8B030D-6E8A-4147-A177-3AD203B41FA5}">
                      <a16:colId xmlns:a16="http://schemas.microsoft.com/office/drawing/2014/main" val="2692726021"/>
                    </a:ext>
                  </a:extLst>
                </a:gridCol>
              </a:tblGrid>
              <a:tr h="484801">
                <a:tc>
                  <a:txBody>
                    <a:bodyPr/>
                    <a:lstStyle/>
                    <a:p>
                      <a:r>
                        <a:rPr lang="en-US" sz="2400" dirty="0"/>
                        <a:t>Tool</a:t>
                      </a:r>
                      <a:endParaRPr lang="en-US" sz="2400" dirty="0">
                        <a:latin typeface="+mj-lt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Justification</a:t>
                      </a:r>
                      <a:endParaRPr lang="en-US" sz="2400" dirty="0">
                        <a:latin typeface="+mj-lt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8612945"/>
                  </a:ext>
                </a:extLst>
              </a:tr>
              <a:tr h="1195400">
                <a:tc>
                  <a:txBody>
                    <a:bodyPr/>
                    <a:lstStyle/>
                    <a:p>
                      <a:pPr marL="0" lvl="0" indent="0">
                        <a:buFont typeface="Arial" panose="020B0604020202020204" pitchFamily="34" charset="0"/>
                        <a:buNone/>
                      </a:pPr>
                      <a:r>
                        <a:rPr lang="en-US" sz="2400" b="0" dirty="0" err="1"/>
                        <a:t>OpenDuck</a:t>
                      </a:r>
                      <a:r>
                        <a:rPr lang="en-US" sz="2400" b="0" dirty="0"/>
                        <a:t> Mini V2 </a:t>
                      </a:r>
                      <a:endParaRPr lang="en-US" sz="2400" b="0" dirty="0">
                        <a:latin typeface="+mj-lt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2400" b="0" dirty="0"/>
                        <a:t> Base robot design, tweaked for own use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sz="2400" b="0" dirty="0">
                        <a:latin typeface="+mj-lt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4449001"/>
                  </a:ext>
                </a:extLst>
              </a:tr>
              <a:tr h="484801">
                <a:tc>
                  <a:txBody>
                    <a:bodyPr/>
                    <a:lstStyle/>
                    <a:p>
                      <a:pPr marL="0" lvl="0" indent="0">
                        <a:buFont typeface="Arial" panose="020B0604020202020204" pitchFamily="34" charset="0"/>
                        <a:buNone/>
                      </a:pPr>
                      <a:r>
                        <a:rPr lang="en-US" sz="2400" b="0" dirty="0"/>
                        <a:t>X1C 3D Printer </a:t>
                      </a:r>
                      <a:endParaRPr lang="en-US" sz="2400" b="0" dirty="0">
                        <a:latin typeface="+mj-lt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Font typeface="Arial" panose="020B0604020202020204" pitchFamily="34" charset="0"/>
                        <a:buNone/>
                      </a:pPr>
                      <a:r>
                        <a:rPr lang="en-US" sz="2400" b="0" dirty="0"/>
                        <a:t>For printing out structures and parts</a:t>
                      </a:r>
                      <a:endParaRPr lang="en-US" sz="2400" b="0" dirty="0">
                        <a:latin typeface="+mj-lt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0880718"/>
                  </a:ext>
                </a:extLst>
              </a:tr>
              <a:tr h="836780">
                <a:tc>
                  <a:txBody>
                    <a:bodyPr/>
                    <a:lstStyle/>
                    <a:p>
                      <a:pPr marL="0" lvl="0" indent="0">
                        <a:buFont typeface="Arial" panose="020B0604020202020204" pitchFamily="34" charset="0"/>
                        <a:buNone/>
                      </a:pPr>
                      <a:r>
                        <a:rPr lang="en-US" sz="2400" b="0" dirty="0" err="1"/>
                        <a:t>IsaacSim</a:t>
                      </a:r>
                      <a:endParaRPr lang="en-US" sz="2400" b="0" dirty="0">
                        <a:latin typeface="+mj-lt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Font typeface="Arial" panose="020B0604020202020204" pitchFamily="34" charset="0"/>
                        <a:buNone/>
                      </a:pPr>
                      <a:r>
                        <a:rPr lang="en-US" sz="2400" b="0" dirty="0"/>
                        <a:t>Nvidia Physics Engine for Reinforcement Learning</a:t>
                      </a:r>
                      <a:endParaRPr lang="en-US" sz="2400" b="0" dirty="0">
                        <a:latin typeface="+mj-lt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1794215"/>
                  </a:ext>
                </a:extLst>
              </a:tr>
              <a:tr h="1195400">
                <a:tc>
                  <a:txBody>
                    <a:bodyPr/>
                    <a:lstStyle/>
                    <a:p>
                      <a:pPr marL="0" lvl="0" indent="0">
                        <a:buFont typeface="Arial" panose="020B0604020202020204" pitchFamily="34" charset="0"/>
                        <a:buNone/>
                      </a:pPr>
                      <a:r>
                        <a:rPr lang="en-US" sz="2400" b="0" dirty="0"/>
                        <a:t>Claude</a:t>
                      </a:r>
                      <a:endParaRPr lang="en-US" sz="2400" b="0" dirty="0">
                        <a:latin typeface="+mj-lt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Font typeface="Arial" panose="020B0604020202020204" pitchFamily="34" charset="0"/>
                        <a:buNone/>
                      </a:pPr>
                      <a:r>
                        <a:rPr lang="en-US" sz="2400" b="0" dirty="0"/>
                        <a:t>To clarify unknown information and help find hidden errors and bugs in the code</a:t>
                      </a:r>
                      <a:endParaRPr lang="en-US" sz="2400" b="0" dirty="0">
                        <a:latin typeface="+mj-lt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9252621"/>
                  </a:ext>
                </a:extLst>
              </a:tr>
              <a:tr h="836780">
                <a:tc>
                  <a:txBody>
                    <a:bodyPr/>
                    <a:lstStyle/>
                    <a:p>
                      <a:pPr marL="0" lvl="0" indent="0">
                        <a:buFont typeface="Arial" panose="020B0604020202020204" pitchFamily="34" charset="0"/>
                        <a:buNone/>
                      </a:pPr>
                      <a:r>
                        <a:rPr lang="en-US" sz="2400" b="0" dirty="0" err="1"/>
                        <a:t>IsaacSim</a:t>
                      </a:r>
                      <a:r>
                        <a:rPr lang="en-US" sz="2400" b="0" dirty="0"/>
                        <a:t> tutorials </a:t>
                      </a:r>
                      <a:endParaRPr lang="en-US" sz="2400" b="0" dirty="0">
                        <a:latin typeface="+mj-lt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Font typeface="Arial" panose="020B0604020202020204" pitchFamily="34" charset="0"/>
                        <a:buNone/>
                      </a:pPr>
                      <a:r>
                        <a:rPr lang="en-US" sz="2400" b="0" dirty="0"/>
                        <a:t>For coding effectively in the </a:t>
                      </a:r>
                      <a:br>
                        <a:rPr lang="en-US" sz="2400" b="0" dirty="0"/>
                      </a:br>
                      <a:r>
                        <a:rPr lang="en-US" sz="2400" b="0" dirty="0"/>
                        <a:t>environment</a:t>
                      </a:r>
                      <a:endParaRPr lang="en-US" sz="2400" b="0" dirty="0">
                        <a:latin typeface="+mj-lt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8159984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D35E00B4-184E-58A9-B163-E5520C8D91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0888" y="4933950"/>
            <a:ext cx="2271712" cy="1821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20490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E8206E-CD47-2C7B-0F68-23E0C95498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Progress - Research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4AF1F67-8193-7901-9035-486720128A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Datasets for Imitation Learning</a:t>
            </a:r>
          </a:p>
          <a:p>
            <a:pPr lvl="1"/>
            <a:r>
              <a:rPr lang="en-US" dirty="0" err="1"/>
              <a:t>OstritchRL</a:t>
            </a:r>
            <a:endParaRPr lang="en-US" dirty="0"/>
          </a:p>
          <a:p>
            <a:pPr lvl="1"/>
            <a:r>
              <a:rPr lang="en-US" dirty="0"/>
              <a:t>Jerboa Gate Transitions</a:t>
            </a:r>
          </a:p>
          <a:p>
            <a:pPr lvl="1"/>
            <a:endParaRPr lang="en-US" dirty="0"/>
          </a:p>
          <a:p>
            <a:r>
              <a:rPr lang="en-US" dirty="0"/>
              <a:t>Imitation Learning</a:t>
            </a:r>
          </a:p>
          <a:p>
            <a:pPr lvl="1"/>
            <a:r>
              <a:rPr lang="en-US" dirty="0"/>
              <a:t>AMP – Adversarial Motion Priors (Peng et al. 2021)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BCE5EB2-C2DC-3059-BFFD-8D93409E5C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564" y="1890454"/>
            <a:ext cx="5837424" cy="1538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76158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5B2348-C736-DE5B-BB64-5FF92B9FEE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6C42B0-196A-9245-3EDD-75BD48717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Progress - Implementation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A545136-AC60-0E7A-BBD0-C1AE184DF5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02665"/>
            <a:ext cx="12192000" cy="2452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81399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EBD425-5E0B-13B5-4A38-A6BD958910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3CB0D4-1679-DFDC-D62C-FCF41C5135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Progress - Implementation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CB7886B2-CE43-D091-7D53-FA4CDEF23F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8298" y="1355724"/>
            <a:ext cx="4076303" cy="543507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B8A1674-98E2-AA0A-5847-2D78FECEA5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7401" y="1355724"/>
            <a:ext cx="4076304" cy="5435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72890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389450-9523-6584-5788-9950A5CA32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Things I’ve Learned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6E96F8-585D-6BE2-1C55-905D1D5082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Imitation Learning = not ideal for my timeline</a:t>
            </a:r>
          </a:p>
          <a:p>
            <a:pPr lvl="1"/>
            <a:r>
              <a:rPr lang="en-US" dirty="0"/>
              <a:t>Traditional Reinforcement Learning (reward shaping) preferred</a:t>
            </a:r>
          </a:p>
          <a:p>
            <a:pPr lvl="1"/>
            <a:endParaRPr lang="en-US" dirty="0"/>
          </a:p>
          <a:p>
            <a:r>
              <a:rPr lang="en-US" dirty="0" err="1"/>
              <a:t>IsaacSim</a:t>
            </a:r>
            <a:r>
              <a:rPr lang="en-US" dirty="0"/>
              <a:t> helps a lot with RL configuration</a:t>
            </a:r>
          </a:p>
          <a:p>
            <a:endParaRPr lang="en-US" dirty="0"/>
          </a:p>
          <a:p>
            <a:r>
              <a:rPr lang="en-US" dirty="0"/>
              <a:t>3D Printer settings and layer lines are very important when building robot parts</a:t>
            </a:r>
          </a:p>
        </p:txBody>
      </p:sp>
    </p:spTree>
    <p:extLst>
      <p:ext uri="{BB962C8B-B14F-4D97-AF65-F5344CB8AC3E}">
        <p14:creationId xmlns:p14="http://schemas.microsoft.com/office/powerpoint/2010/main" val="3015130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97E76D-ABE8-EC21-CCE0-075761CDB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Sprint 2 Goals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135816-2EC3-9CA8-01A8-CB68DACB36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Configure RL Training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Run RL Training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Tweak reward shaping for best performance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Fully wire robot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Run diagnostics to confirm all parts are working properly</a:t>
            </a:r>
          </a:p>
        </p:txBody>
      </p:sp>
    </p:spTree>
    <p:extLst>
      <p:ext uri="{BB962C8B-B14F-4D97-AF65-F5344CB8AC3E}">
        <p14:creationId xmlns:p14="http://schemas.microsoft.com/office/powerpoint/2010/main" val="17279900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15C9D8B9-B482-3C5B-2BC9-299D023D19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813" b="96114" l="4476" r="97187">
                        <a14:foregroundMark x1="6138" y1="69301" x2="7801" y2="35751"/>
                        <a14:foregroundMark x1="7801" y1="35751" x2="18286" y2="22668"/>
                        <a14:foregroundMark x1="18286" y1="22668" x2="50256" y2="10233"/>
                        <a14:foregroundMark x1="50256" y1="10233" x2="67008" y2="13342"/>
                        <a14:foregroundMark x1="67008" y1="13342" x2="75575" y2="25389"/>
                        <a14:foregroundMark x1="75575" y1="25389" x2="82609" y2="44430"/>
                        <a14:foregroundMark x1="82609" y1="44430" x2="83504" y2="62694"/>
                        <a14:foregroundMark x1="83504" y1="62694" x2="69693" y2="87953"/>
                        <a14:foregroundMark x1="69693" y1="87953" x2="54731" y2="94041"/>
                        <a14:foregroundMark x1="54731" y1="94041" x2="38747" y2="93653"/>
                        <a14:foregroundMark x1="38747" y1="93653" x2="23146" y2="88731"/>
                        <a14:foregroundMark x1="23146" y1="88731" x2="10614" y2="57124"/>
                        <a14:foregroundMark x1="53197" y1="26554" x2="27238" y2="35751"/>
                        <a14:foregroundMark x1="27238" y1="35751" x2="43095" y2="55311"/>
                        <a14:foregroundMark x1="43095" y1="55311" x2="33376" y2="74223"/>
                        <a14:foregroundMark x1="33376" y1="74223" x2="68031" y2="79534"/>
                        <a14:foregroundMark x1="75064" y1="48446" x2="47059" y2="80699"/>
                        <a14:foregroundMark x1="47059" y1="80699" x2="19437" y2="74741"/>
                        <a14:foregroundMark x1="19437" y1="74741" x2="23529" y2="43135"/>
                        <a14:foregroundMark x1="23529" y1="43135" x2="49233" y2="37306"/>
                        <a14:foregroundMark x1="49233" y1="37306" x2="50128" y2="41580"/>
                        <a14:foregroundMark x1="21867" y1="32513" x2="11765" y2="80052"/>
                        <a14:foregroundMark x1="11765" y1="80052" x2="13299" y2="82772"/>
                        <a14:foregroundMark x1="21483" y1="28368" x2="9974" y2="40026"/>
                        <a14:foregroundMark x1="9974" y1="40026" x2="1662" y2="61010"/>
                        <a14:foregroundMark x1="6640" y1="73964" x2="9079" y2="80311"/>
                        <a14:foregroundMark x1="6391" y1="73316" x2="6491" y2="73575"/>
                        <a14:foregroundMark x1="6291" y1="73057" x2="6391" y2="73316"/>
                        <a14:foregroundMark x1="6142" y1="72668" x2="6291" y2="73057"/>
                        <a14:foregroundMark x1="1662" y1="61010" x2="5510" y2="71023"/>
                        <a14:foregroundMark x1="9079" y1="80311" x2="53069" y2="96114"/>
                        <a14:foregroundMark x1="53069" y1="96114" x2="75192" y2="88601"/>
                        <a14:foregroundMark x1="75192" y1="88601" x2="82609" y2="82124"/>
                        <a14:foregroundMark x1="72890" y1="24223" x2="36573" y2="10233"/>
                        <a14:foregroundMark x1="36573" y1="10233" x2="19054" y2="18912"/>
                        <a14:foregroundMark x1="19054" y1="18912" x2="2302" y2="53756"/>
                        <a14:foregroundMark x1="4698" y1="71114" x2="4726" y2="71314"/>
                        <a14:foregroundMark x1="2302" y1="53756" x2="4698" y2="71114"/>
                        <a14:foregroundMark x1="6626" y1="73964" x2="15601" y2="82513"/>
                        <a14:foregroundMark x1="5946" y1="73316" x2="6218" y2="73575"/>
                        <a14:foregroundMark x1="5674" y1="73057" x2="5946" y2="73316"/>
                        <a14:foregroundMark x1="5543" y1="72932" x2="5674" y2="73057"/>
                        <a14:foregroundMark x1="15601" y1="82513" x2="45524" y2="87694"/>
                        <a14:foregroundMark x1="45524" y1="87694" x2="63939" y2="86010"/>
                        <a14:foregroundMark x1="63939" y1="86010" x2="35806" y2="83549"/>
                        <a14:foregroundMark x1="35806" y1="83549" x2="14578" y2="75000"/>
                        <a14:foregroundMark x1="14578" y1="75000" x2="6394" y2="60622"/>
                        <a14:foregroundMark x1="6394" y1="60622" x2="17263" y2="29275"/>
                        <a14:foregroundMark x1="17263" y1="29275" x2="35806" y2="12694"/>
                        <a14:foregroundMark x1="35806" y1="12694" x2="63939" y2="10363"/>
                        <a14:foregroundMark x1="63939" y1="10363" x2="78772" y2="20855"/>
                        <a14:foregroundMark x1="78772" y1="20855" x2="90921" y2="44689"/>
                        <a14:foregroundMark x1="90921" y1="44689" x2="92583" y2="59067"/>
                        <a14:foregroundMark x1="92583" y1="59067" x2="80435" y2="78497"/>
                        <a14:foregroundMark x1="80435" y1="78497" x2="62916" y2="92617"/>
                        <a14:foregroundMark x1="62788" y1="68653" x2="74680" y2="66580"/>
                        <a14:foregroundMark x1="18926" y1="61788" x2="45396" y2="76554"/>
                        <a14:foregroundMark x1="8440" y1="58290" x2="4476" y2="40674"/>
                        <a14:foregroundMark x1="4476" y1="40674" x2="7928" y2="31865"/>
                        <a14:foregroundMark x1="26982" y1="15803" x2="61125" y2="7642"/>
                        <a14:foregroundMark x1="61125" y1="7642" x2="68414" y2="8938"/>
                        <a14:foregroundMark x1="52558" y1="4275" x2="51407" y2="1943"/>
                        <a14:foregroundMark x1="45780" y1="42876" x2="58696" y2="56606"/>
                        <a14:foregroundMark x1="50512" y1="40155" x2="60742" y2="54016"/>
                        <a14:foregroundMark x1="43223" y1="37565" x2="24936" y2="59326"/>
                        <a14:foregroundMark x1="24936" y1="59326" x2="24936" y2="59326"/>
                        <a14:foregroundMark x1="37724" y1="80699" x2="91577" y2="84218"/>
                        <a14:foregroundMark x1="20844" y1="79663" x2="8951" y2="90933"/>
                        <a14:foregroundMark x1="35806" y1="83808" x2="62020" y2="83290"/>
                        <a14:foregroundMark x1="62020" y1="83290" x2="80563" y2="87435"/>
                        <a14:foregroundMark x1="73529" y1="79922" x2="68926" y2="77591"/>
                        <a14:backgroundMark x1="4859" y1="72150" x2="4859" y2="72150"/>
                        <a14:backgroundMark x1="4859" y1="72668" x2="4859" y2="72668"/>
                        <a14:backgroundMark x1="95908" y1="84715" x2="95524" y2="86917"/>
                        <a14:backgroundMark x1="94629" y1="83290" x2="98465" y2="87824"/>
                        <a14:backgroundMark x1="4220" y1="71503" x2="4859" y2="73187"/>
                        <a14:backgroundMark x1="4476" y1="71503" x2="4476" y2="71503"/>
                        <a14:backgroundMark x1="4476" y1="71114" x2="4476" y2="71114"/>
                        <a14:backgroundMark x1="5627" y1="73057" x2="5627" y2="73057"/>
                        <a14:backgroundMark x1="5371" y1="73316" x2="5371" y2="73316"/>
                        <a14:backgroundMark x1="5627" y1="73575" x2="5627" y2="7396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622583" y="0"/>
            <a:ext cx="6946834" cy="6858000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77422BDB-3C55-28E8-7D85-F8D04344B378}"/>
              </a:ext>
            </a:extLst>
          </p:cNvPr>
          <p:cNvSpPr/>
          <p:nvPr/>
        </p:nvSpPr>
        <p:spPr>
          <a:xfrm>
            <a:off x="4528457" y="1988457"/>
            <a:ext cx="3015346" cy="3069772"/>
          </a:xfrm>
          <a:prstGeom prst="ellipse">
            <a:avLst/>
          </a:prstGeom>
          <a:solidFill>
            <a:srgbClr val="1B1B1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A748B26-7DE2-9FD4-13E1-E706BC5B0D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813" b="96114" l="4476" r="97187">
                        <a14:foregroundMark x1="6138" y1="69301" x2="7801" y2="35751"/>
                        <a14:foregroundMark x1="7801" y1="35751" x2="18286" y2="22668"/>
                        <a14:foregroundMark x1="18286" y1="22668" x2="50256" y2="10233"/>
                        <a14:foregroundMark x1="50256" y1="10233" x2="67008" y2="13342"/>
                        <a14:foregroundMark x1="67008" y1="13342" x2="75575" y2="25389"/>
                        <a14:foregroundMark x1="75575" y1="25389" x2="82609" y2="44430"/>
                        <a14:foregroundMark x1="82609" y1="44430" x2="83504" y2="62694"/>
                        <a14:foregroundMark x1="83504" y1="62694" x2="69693" y2="87953"/>
                        <a14:foregroundMark x1="69693" y1="87953" x2="54731" y2="94041"/>
                        <a14:foregroundMark x1="54731" y1="94041" x2="38747" y2="93653"/>
                        <a14:foregroundMark x1="38747" y1="93653" x2="23146" y2="88731"/>
                        <a14:foregroundMark x1="23146" y1="88731" x2="10614" y2="57124"/>
                        <a14:foregroundMark x1="53197" y1="26554" x2="27238" y2="35751"/>
                        <a14:foregroundMark x1="27238" y1="35751" x2="43095" y2="55311"/>
                        <a14:foregroundMark x1="43095" y1="55311" x2="33376" y2="74223"/>
                        <a14:foregroundMark x1="33376" y1="74223" x2="68031" y2="79534"/>
                        <a14:foregroundMark x1="75064" y1="48446" x2="47059" y2="80699"/>
                        <a14:foregroundMark x1="47059" y1="80699" x2="19437" y2="74741"/>
                        <a14:foregroundMark x1="19437" y1="74741" x2="23529" y2="43135"/>
                        <a14:foregroundMark x1="23529" y1="43135" x2="49233" y2="37306"/>
                        <a14:foregroundMark x1="49233" y1="37306" x2="50128" y2="41580"/>
                        <a14:foregroundMark x1="21867" y1="32513" x2="11765" y2="80052"/>
                        <a14:foregroundMark x1="11765" y1="80052" x2="13299" y2="82772"/>
                        <a14:foregroundMark x1="21483" y1="28368" x2="9974" y2="40026"/>
                        <a14:foregroundMark x1="9974" y1="40026" x2="1662" y2="61010"/>
                        <a14:foregroundMark x1="6640" y1="73964" x2="9079" y2="80311"/>
                        <a14:foregroundMark x1="6391" y1="73316" x2="6491" y2="73575"/>
                        <a14:foregroundMark x1="6291" y1="73057" x2="6391" y2="73316"/>
                        <a14:foregroundMark x1="6142" y1="72668" x2="6291" y2="73057"/>
                        <a14:foregroundMark x1="1662" y1="61010" x2="5510" y2="71023"/>
                        <a14:foregroundMark x1="9079" y1="80311" x2="53069" y2="96114"/>
                        <a14:foregroundMark x1="53069" y1="96114" x2="75192" y2="88601"/>
                        <a14:foregroundMark x1="75192" y1="88601" x2="82609" y2="82124"/>
                        <a14:foregroundMark x1="72890" y1="24223" x2="36573" y2="10233"/>
                        <a14:foregroundMark x1="36573" y1="10233" x2="19054" y2="18912"/>
                        <a14:foregroundMark x1="19054" y1="18912" x2="2302" y2="53756"/>
                        <a14:foregroundMark x1="4698" y1="71114" x2="4726" y2="71314"/>
                        <a14:foregroundMark x1="2302" y1="53756" x2="4698" y2="71114"/>
                        <a14:foregroundMark x1="6626" y1="73964" x2="15601" y2="82513"/>
                        <a14:foregroundMark x1="5946" y1="73316" x2="6218" y2="73575"/>
                        <a14:foregroundMark x1="5674" y1="73057" x2="5946" y2="73316"/>
                        <a14:foregroundMark x1="5543" y1="72932" x2="5674" y2="73057"/>
                        <a14:foregroundMark x1="15601" y1="82513" x2="45524" y2="87694"/>
                        <a14:foregroundMark x1="45524" y1="87694" x2="63939" y2="86010"/>
                        <a14:foregroundMark x1="63939" y1="86010" x2="35806" y2="83549"/>
                        <a14:foregroundMark x1="35806" y1="83549" x2="14578" y2="75000"/>
                        <a14:foregroundMark x1="14578" y1="75000" x2="6394" y2="60622"/>
                        <a14:foregroundMark x1="6394" y1="60622" x2="17263" y2="29275"/>
                        <a14:foregroundMark x1="17263" y1="29275" x2="35806" y2="12694"/>
                        <a14:foregroundMark x1="35806" y1="12694" x2="63939" y2="10363"/>
                        <a14:foregroundMark x1="63939" y1="10363" x2="78772" y2="20855"/>
                        <a14:foregroundMark x1="78772" y1="20855" x2="90921" y2="44689"/>
                        <a14:foregroundMark x1="90921" y1="44689" x2="92583" y2="59067"/>
                        <a14:foregroundMark x1="92583" y1="59067" x2="80435" y2="78497"/>
                        <a14:foregroundMark x1="80435" y1="78497" x2="62916" y2="92617"/>
                        <a14:foregroundMark x1="62788" y1="68653" x2="74680" y2="66580"/>
                        <a14:foregroundMark x1="18926" y1="61788" x2="45396" y2="76554"/>
                        <a14:foregroundMark x1="8440" y1="58290" x2="4476" y2="40674"/>
                        <a14:foregroundMark x1="4476" y1="40674" x2="7928" y2="31865"/>
                        <a14:foregroundMark x1="26982" y1="15803" x2="61125" y2="7642"/>
                        <a14:foregroundMark x1="61125" y1="7642" x2="68414" y2="8938"/>
                        <a14:foregroundMark x1="52558" y1="4275" x2="51407" y2="1943"/>
                        <a14:foregroundMark x1="45780" y1="42876" x2="58696" y2="56606"/>
                        <a14:foregroundMark x1="50512" y1="40155" x2="60742" y2="54016"/>
                        <a14:foregroundMark x1="43223" y1="37565" x2="24936" y2="59326"/>
                        <a14:foregroundMark x1="24936" y1="59326" x2="24936" y2="59326"/>
                        <a14:foregroundMark x1="37724" y1="80699" x2="91577" y2="84218"/>
                        <a14:foregroundMark x1="20844" y1="79663" x2="8951" y2="90933"/>
                        <a14:foregroundMark x1="35806" y1="83808" x2="62020" y2="83290"/>
                        <a14:foregroundMark x1="62020" y1="83290" x2="80563" y2="87435"/>
                        <a14:foregroundMark x1="73529" y1="79922" x2="68926" y2="77591"/>
                        <a14:backgroundMark x1="4859" y1="72150" x2="4859" y2="72150"/>
                        <a14:backgroundMark x1="4859" y1="72668" x2="4859" y2="72668"/>
                        <a14:backgroundMark x1="95908" y1="84715" x2="95524" y2="86917"/>
                        <a14:backgroundMark x1="94629" y1="83290" x2="98465" y2="87824"/>
                        <a14:backgroundMark x1="4220" y1="71503" x2="4859" y2="73187"/>
                        <a14:backgroundMark x1="4476" y1="71503" x2="4476" y2="71503"/>
                        <a14:backgroundMark x1="4476" y1="71114" x2="4476" y2="71114"/>
                        <a14:backgroundMark x1="5627" y1="73057" x2="5627" y2="73057"/>
                        <a14:backgroundMark x1="5371" y1="73316" x2="5371" y2="73316"/>
                        <a14:backgroundMark x1="5627" y1="73575" x2="5627" y2="73964"/>
                      </a14:backgroundRemoval>
                    </a14:imgEffect>
                  </a14:imgLayer>
                </a14:imgProps>
              </a:ext>
            </a:extLst>
          </a:blip>
          <a:srcRect r="72878" b="27196"/>
          <a:stretch>
            <a:fillRect/>
          </a:stretch>
        </p:blipFill>
        <p:spPr>
          <a:xfrm rot="5400000">
            <a:off x="5986017" y="-1517865"/>
            <a:ext cx="1936281" cy="507636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E14EC97-F5BC-989E-A9B0-D418E67ED47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386" t="8269" r="13082" b="42893"/>
          <a:stretch>
            <a:fillRect/>
          </a:stretch>
        </p:blipFill>
        <p:spPr>
          <a:xfrm>
            <a:off x="4338898" y="1343803"/>
            <a:ext cx="4021012" cy="377851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0B13179-1948-118F-5032-F4ACC7968DE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813" b="96114" l="4476" r="97187">
                        <a14:foregroundMark x1="6138" y1="69301" x2="7801" y2="35751"/>
                        <a14:foregroundMark x1="7801" y1="35751" x2="18286" y2="22668"/>
                        <a14:foregroundMark x1="18286" y1="22668" x2="50256" y2="10233"/>
                        <a14:foregroundMark x1="50256" y1="10233" x2="67008" y2="13342"/>
                        <a14:foregroundMark x1="67008" y1="13342" x2="75575" y2="25389"/>
                        <a14:foregroundMark x1="77732" y1="31229" x2="82609" y2="44430"/>
                        <a14:foregroundMark x1="75575" y1="25389" x2="77594" y2="30854"/>
                        <a14:foregroundMark x1="82609" y1="44430" x2="83504" y2="62694"/>
                        <a14:foregroundMark x1="83504" y1="62694" x2="69693" y2="87953"/>
                        <a14:foregroundMark x1="69693" y1="87953" x2="54731" y2="94041"/>
                        <a14:foregroundMark x1="54731" y1="94041" x2="38747" y2="93653"/>
                        <a14:foregroundMark x1="38747" y1="93653" x2="23146" y2="88731"/>
                        <a14:foregroundMark x1="23146" y1="88731" x2="10614" y2="57124"/>
                        <a14:foregroundMark x1="33386" y1="33573" x2="27238" y2="35751"/>
                        <a14:foregroundMark x1="33142" y1="43034" x2="33269" y2="43190"/>
                        <a14:foregroundMark x1="27238" y1="35751" x2="31310" y2="40774"/>
                        <a14:foregroundMark x1="34957" y1="71146" x2="33376" y2="74223"/>
                        <a14:foregroundMark x1="33376" y1="74223" x2="68031" y2="79534"/>
                        <a14:foregroundMark x1="54472" y1="72161" x2="47059" y2="80699"/>
                        <a14:foregroundMark x1="75064" y1="48446" x2="56414" y2="69925"/>
                        <a14:foregroundMark x1="47059" y1="80699" x2="19437" y2="74741"/>
                        <a14:foregroundMark x1="19437" y1="74741" x2="23529" y2="43135"/>
                        <a14:foregroundMark x1="23529" y1="43135" x2="31080" y2="41422"/>
                        <a14:foregroundMark x1="21867" y1="32513" x2="11765" y2="80052"/>
                        <a14:foregroundMark x1="11765" y1="80052" x2="13299" y2="82772"/>
                        <a14:foregroundMark x1="21483" y1="28368" x2="9974" y2="40026"/>
                        <a14:foregroundMark x1="9974" y1="40026" x2="1662" y2="61010"/>
                        <a14:foregroundMark x1="6640" y1="73964" x2="9079" y2="80311"/>
                        <a14:foregroundMark x1="6391" y1="73316" x2="6491" y2="73575"/>
                        <a14:foregroundMark x1="6291" y1="73057" x2="6391" y2="73316"/>
                        <a14:foregroundMark x1="6142" y1="72668" x2="6291" y2="73057"/>
                        <a14:foregroundMark x1="1662" y1="61010" x2="5510" y2="71023"/>
                        <a14:foregroundMark x1="9079" y1="80311" x2="53069" y2="96114"/>
                        <a14:foregroundMark x1="53069" y1="96114" x2="75192" y2="88601"/>
                        <a14:foregroundMark x1="75192" y1="88601" x2="82609" y2="82124"/>
                        <a14:foregroundMark x1="58647" y1="18736" x2="36573" y2="10233"/>
                        <a14:foregroundMark x1="72890" y1="24223" x2="70221" y2="23195"/>
                        <a14:foregroundMark x1="36573" y1="10233" x2="19054" y2="18912"/>
                        <a14:foregroundMark x1="19054" y1="18912" x2="2302" y2="53756"/>
                        <a14:foregroundMark x1="4698" y1="71114" x2="4726" y2="71314"/>
                        <a14:foregroundMark x1="2302" y1="53756" x2="4698" y2="71114"/>
                        <a14:foregroundMark x1="6626" y1="73964" x2="15601" y2="82513"/>
                        <a14:foregroundMark x1="5946" y1="73316" x2="6218" y2="73575"/>
                        <a14:foregroundMark x1="5674" y1="73057" x2="5946" y2="73316"/>
                        <a14:foregroundMark x1="5543" y1="72932" x2="5674" y2="73057"/>
                        <a14:foregroundMark x1="15601" y1="82513" x2="45524" y2="87694"/>
                        <a14:foregroundMark x1="45524" y1="87694" x2="63939" y2="86010"/>
                        <a14:foregroundMark x1="63939" y1="86010" x2="35806" y2="83549"/>
                        <a14:foregroundMark x1="35806" y1="83549" x2="14578" y2="75000"/>
                        <a14:foregroundMark x1="14578" y1="75000" x2="6394" y2="60622"/>
                        <a14:foregroundMark x1="6394" y1="60622" x2="17263" y2="29275"/>
                        <a14:foregroundMark x1="17263" y1="29275" x2="35806" y2="12694"/>
                        <a14:foregroundMark x1="35806" y1="12694" x2="63939" y2="10363"/>
                        <a14:foregroundMark x1="63939" y1="10363" x2="78772" y2="20855"/>
                        <a14:foregroundMark x1="78772" y1="20855" x2="90921" y2="44689"/>
                        <a14:foregroundMark x1="90921" y1="44689" x2="92583" y2="59067"/>
                        <a14:foregroundMark x1="92583" y1="59067" x2="80435" y2="78497"/>
                        <a14:foregroundMark x1="80435" y1="78497" x2="62916" y2="92617"/>
                        <a14:foregroundMark x1="62788" y1="68653" x2="74680" y2="66580"/>
                        <a14:foregroundMark x1="38701" y1="72819" x2="45396" y2="76554"/>
                        <a14:foregroundMark x1="18926" y1="61788" x2="31300" y2="68691"/>
                        <a14:foregroundMark x1="8440" y1="58290" x2="4476" y2="40674"/>
                        <a14:foregroundMark x1="4476" y1="40674" x2="7928" y2="31865"/>
                        <a14:foregroundMark x1="26982" y1="15803" x2="61125" y2="7642"/>
                        <a14:foregroundMark x1="61125" y1="7642" x2="68414" y2="8938"/>
                        <a14:foregroundMark x1="52558" y1="4275" x2="51407" y2="1943"/>
                        <a14:foregroundMark x1="53874" y1="51481" x2="54810" y2="52476"/>
                        <a14:foregroundMark x1="33236" y1="49450" x2="24936" y2="59326"/>
                        <a14:foregroundMark x1="24936" y1="59326" x2="24936" y2="59326"/>
                        <a14:foregroundMark x1="37724" y1="80699" x2="91577" y2="84218"/>
                        <a14:foregroundMark x1="20844" y1="79663" x2="8951" y2="90933"/>
                        <a14:foregroundMark x1="35806" y1="83808" x2="62020" y2="83290"/>
                        <a14:foregroundMark x1="62020" y1="83290" x2="80563" y2="87435"/>
                        <a14:foregroundMark x1="73529" y1="79922" x2="68926" y2="77591"/>
                        <a14:backgroundMark x1="4859" y1="72150" x2="4859" y2="72150"/>
                        <a14:backgroundMark x1="4859" y1="72668" x2="4859" y2="72668"/>
                        <a14:backgroundMark x1="95908" y1="84715" x2="95524" y2="86917"/>
                        <a14:backgroundMark x1="94629" y1="83290" x2="98465" y2="87824"/>
                        <a14:backgroundMark x1="4220" y1="71503" x2="4859" y2="73187"/>
                        <a14:backgroundMark x1="4476" y1="71503" x2="4476" y2="71503"/>
                        <a14:backgroundMark x1="4476" y1="71114" x2="4476" y2="71114"/>
                        <a14:backgroundMark x1="5627" y1="73057" x2="5627" y2="73057"/>
                        <a14:backgroundMark x1="5371" y1="73316" x2="5371" y2="73316"/>
                        <a14:backgroundMark x1="5627" y1="73575" x2="5627" y2="73964"/>
                        <a14:backgroundMark x1="57289" y1="46632" x2="47315" y2="44819"/>
                        <a14:backgroundMark x1="47315" y1="44819" x2="39898" y2="50518"/>
                        <a14:backgroundMark x1="39898" y1="50518" x2="44885" y2="40674"/>
                        <a14:backgroundMark x1="44885" y1="40674" x2="37468" y2="52461"/>
                        <a14:backgroundMark x1="37468" y1="52461" x2="56266" y2="47539"/>
                        <a14:backgroundMark x1="56266" y1="47539" x2="45524" y2="41192"/>
                        <a14:backgroundMark x1="45524" y1="41192" x2="43350" y2="57902"/>
                        <a14:backgroundMark x1="43350" y1="57902" x2="51151" y2="60233"/>
                        <a14:backgroundMark x1="51151" y1="60233" x2="51790" y2="59715"/>
                        <a14:backgroundMark x1="58312" y1="52850" x2="53581" y2="44041"/>
                        <a14:backgroundMark x1="53581" y1="44041" x2="36573" y2="26943"/>
                        <a14:backgroundMark x1="41049" y1="38083" x2="37340" y2="45466"/>
                        <a14:backgroundMark x1="42583" y1="34845" x2="64834" y2="40803"/>
                        <a14:backgroundMark x1="64834" y1="40803" x2="57673" y2="56736"/>
                        <a14:backgroundMark x1="57673" y1="56736" x2="43223" y2="64767"/>
                        <a14:backgroundMark x1="43223" y1="64767" x2="54220" y2="68005"/>
                        <a14:backgroundMark x1="52174" y1="63990" x2="38235" y2="65155"/>
                        <a14:backgroundMark x1="38235" y1="65155" x2="37084" y2="50000"/>
                        <a14:backgroundMark x1="37084" y1="50000" x2="38107" y2="48316"/>
                        <a14:backgroundMark x1="39258" y1="53109" x2="43734" y2="66451"/>
                        <a14:backgroundMark x1="43734" y1="66451" x2="43734" y2="66451"/>
                        <a14:backgroundMark x1="37596" y1="67746" x2="41304" y2="70207"/>
                        <a14:backgroundMark x1="37980" y1="68005" x2="35294" y2="66710"/>
                        <a14:backgroundMark x1="37212" y1="67746" x2="35806" y2="68523"/>
                        <a14:backgroundMark x1="38363" y1="66192" x2="55499" y2="70337"/>
                        <a14:backgroundMark x1="55499" y1="70337" x2="63171" y2="54145"/>
                        <a14:backgroundMark x1="63171" y1="54145" x2="65729" y2="42617"/>
                        <a14:backgroundMark x1="65729" y1="42617" x2="61637" y2="34845"/>
                        <a14:backgroundMark x1="61637" y1="34845" x2="47442" y2="31088"/>
                        <a14:backgroundMark x1="47442" y1="31088" x2="39003" y2="32124"/>
                        <a14:backgroundMark x1="39003" y1="32124" x2="34910" y2="43653"/>
                        <a14:backgroundMark x1="34910" y1="43653" x2="34910" y2="45855"/>
                        <a14:backgroundMark x1="38875" y1="44171" x2="41304" y2="37565"/>
                        <a14:backgroundMark x1="41304" y1="37565" x2="51918" y2="28756"/>
                        <a14:backgroundMark x1="51918" y1="28756" x2="59079" y2="26295"/>
                        <a14:backgroundMark x1="59079" y1="26295" x2="52302" y2="24741"/>
                        <a14:backgroundMark x1="52302" y1="24741" x2="45780" y2="31218"/>
                        <a14:backgroundMark x1="45780" y1="31218" x2="44757" y2="33290"/>
                        <a14:backgroundMark x1="39898" y1="27073" x2="56650" y2="25000"/>
                        <a14:backgroundMark x1="56650" y1="25000" x2="64706" y2="25389"/>
                        <a14:backgroundMark x1="64706" y1="25389" x2="69182" y2="32642"/>
                        <a14:backgroundMark x1="69182" y1="32642" x2="72890" y2="28238"/>
                        <a14:backgroundMark x1="65985" y1="27461" x2="59335" y2="23575"/>
                        <a14:backgroundMark x1="59335" y1="23575" x2="57161" y2="24093"/>
                        <a14:backgroundMark x1="57289" y1="20337" x2="63811" y2="23187"/>
                        <a14:backgroundMark x1="63811" y1="23187" x2="68926" y2="28238"/>
                        <a14:backgroundMark x1="65729" y1="22927" x2="67391" y2="31218"/>
                        <a14:backgroundMark x1="73657" y1="29663" x2="69565" y2="43135"/>
                        <a14:backgroundMark x1="37980" y1="41321" x2="36573" y2="50000"/>
                        <a14:backgroundMark x1="36573" y1="50000" x2="37724" y2="53497"/>
                        <a14:backgroundMark x1="34910" y1="50130" x2="36317" y2="38731"/>
                        <a14:backgroundMark x1="36317" y1="38731" x2="40409" y2="31477"/>
                        <a14:backgroundMark x1="40409" y1="31477" x2="38619" y2="31477"/>
                        <a14:backgroundMark x1="38619" y1="45984" x2="38363" y2="66451"/>
                        <a14:backgroundMark x1="38363" y1="66451" x2="35806" y2="68653"/>
                        <a14:backgroundMark x1="55882" y1="70855" x2="55115" y2="72021"/>
                        <a14:backgroundMark x1="55115" y1="69560" x2="55627" y2="69171"/>
                        <a14:backgroundMark x1="56138" y1="69819" x2="55115" y2="72409"/>
                        <a14:backgroundMark x1="35678" y1="68135" x2="35550" y2="71114"/>
                        <a14:backgroundMark x1="36829" y1="33549" x2="40153" y2="30570"/>
                        <a14:backgroundMark x1="37340" y1="31736" x2="38875" y2="34845"/>
                        <a14:backgroundMark x1="33760" y1="35492" x2="35806" y2="38731"/>
                        <a14:backgroundMark x1="54476" y1="21762" x2="61765" y2="20207"/>
                        <a14:backgroundMark x1="61765" y1="20207" x2="68414" y2="24870"/>
                        <a14:backgroundMark x1="68414" y1="24870" x2="68031" y2="31606"/>
                      </a14:backgroundRemoval>
                    </a14:imgEffect>
                  </a14:imgLayer>
                </a14:imgProps>
              </a:ext>
            </a:extLst>
          </a:blip>
          <a:srcRect t="53651"/>
          <a:stretch>
            <a:fillRect/>
          </a:stretch>
        </p:blipFill>
        <p:spPr>
          <a:xfrm>
            <a:off x="2622583" y="3624941"/>
            <a:ext cx="6946834" cy="3178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10720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Garamond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334</Words>
  <Application>Microsoft Office PowerPoint</Application>
  <PresentationFormat>Widescreen</PresentationFormat>
  <Paragraphs>53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Garamond</vt:lpstr>
      <vt:lpstr>Times New Roman</vt:lpstr>
      <vt:lpstr>Office Theme</vt:lpstr>
      <vt:lpstr>State of THIMBLE, Bipedal Sim-to-Real Transfer</vt:lpstr>
      <vt:lpstr>Mission</vt:lpstr>
      <vt:lpstr>User Stories</vt:lpstr>
      <vt:lpstr>Tools</vt:lpstr>
      <vt:lpstr>Progress - Research</vt:lpstr>
      <vt:lpstr>Progress - Implementation</vt:lpstr>
      <vt:lpstr>Progress - Implementation</vt:lpstr>
      <vt:lpstr>Things I’ve Learned</vt:lpstr>
      <vt:lpstr>Sprint 2 Goals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James Utley</dc:creator>
  <cp:lastModifiedBy>James Utley</cp:lastModifiedBy>
  <cp:revision>3</cp:revision>
  <dcterms:created xsi:type="dcterms:W3CDTF">2026-10-13T18:37:38Z</dcterms:created>
  <dcterms:modified xsi:type="dcterms:W3CDTF">2026-10-13T19:29:39Z</dcterms:modified>
</cp:coreProperties>
</file>